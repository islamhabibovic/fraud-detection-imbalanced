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RUDARENJE PODATAKA  -  Ljetni semestar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2801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Uporedna analiza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tehnika balansiranja podataka i ensemble metoda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imbalansiranu klasifikaciju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41148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Studija slučaja: detekcija prevara sa kreditnim karticama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  |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as. mr. Narcisa Hadžajlić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Institucija  |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Politehnički fakultet Zenica  -  Softversko inženjerstvo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22960" y="6537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Odbrana  -  Maj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Sadržaj prezentacije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Motivacija i definisanje problema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234440" y="1691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je detekcija prevara izazovna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2103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Istraživački jaz i doprinosi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377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ovaj rad dodaje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788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43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i eksplorativna analiza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234440" y="3063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Kartik2112 - 1,85M transakcija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3429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Metodologija i pipeline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23444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konfiguracija - dijagram toka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41605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486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114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Eksperimentalni rezultati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234440" y="4434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modela poređeno po 6 metrika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846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34440" y="4800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Diskusija i slučajevi neuspjeha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234440" y="5120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Gdje modeli i dalje griješe?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48640" y="55321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548640" y="5532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34440" y="5486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i zaključak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1234440" y="5806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Šta smo naučili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Motivacija - Zašto detekcija prevara?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41732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48640" y="1508760"/>
            <a:ext cx="27432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$32.34B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40080" y="2381098"/>
            <a:ext cx="25603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Globalni gubici od prevara s karticama (2022)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27432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246120"/>
            <a:ext cx="2743200" cy="854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0.58 %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4118458"/>
            <a:ext cx="2560320" cy="497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Stopa prevara na Kartik2112 datasetu (jaka imbalansiranost)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4892040"/>
            <a:ext cx="2743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48640" y="4983480"/>
            <a:ext cx="2743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 : 1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640080" y="5685739"/>
            <a:ext cx="256032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Odnos legitimnih i prevara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1417320"/>
            <a:ext cx="7955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0" y="1417320"/>
            <a:ext cx="73152" cy="12801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840480" y="15087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Definisanje problema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Imbalansiranost klasa narušava klasičnu tačnost: konstantni 'legit' prediktor postiže 99.4% tačnost, ali detektuje nula prevara. Manjinska klasa dominira poslovnom vrijednošću, ne većinska.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0" y="2788920"/>
            <a:ext cx="7955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0" y="2788920"/>
            <a:ext cx="73152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840480" y="28803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je ovo važno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32918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Lažni negativi propuštaju prevare (direktan finansijski gubitak). Lažni pozitivi blokiraju legitimne korisnike (izgubljen prihod + odustajanje klijenata). Oba troška su asimetrična i velika.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0" y="4160520"/>
            <a:ext cx="79552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657600" y="4160520"/>
            <a:ext cx="73152" cy="128016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3840480" y="42519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Zašto ensembles + balansiranje podataka?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40480" y="4663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Balansiranje podataka rebalansira distribuciju treniranja (over/under-sampling, SMOTE, hibridno). Tree ensembles (RF, XGBoost) rade sa visoko-dimenzionalnim, heterogenim feature-ima i hvataju nelinearne interakcije.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0" y="5532120"/>
            <a:ext cx="79552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0" y="5532120"/>
            <a:ext cx="73152" cy="8229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840480" y="5623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Otvoreno pitanje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6035040"/>
            <a:ext cx="7680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Koja kombinacija balansiranja podataka i ensemble-a daje najbolji precision-recall trade-off na realnom datasetu kreditnih kartica?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Istraživački jaz i doprinosi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280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Identifikovani istraživački jaz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published fraud-detection studies test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resampling technique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</a:t>
            </a:r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classifier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Few works systematically compare </a:t>
            </a:r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combinations on the same dataset with the same evaluation protocol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even fewer report MCC and AUC-PR (the metrics that matter for imbalance).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Četiri konkretna doprinosa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3383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25880" y="335584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Puni faktorijalni dizajn 4 x 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3712464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tehnike balansiranja podataka (None, ROS, SMOTE, SMOTE+Tomek) x 2 ensemble-a (RF, XGBoost) na identičnim train/test podjelama.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33088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413308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410565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metrika svjesnih imbalansiranosti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446227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Preciznost, odziv, F1, AUC-ROC, AUC-PR i MCC - izvještavano za svaku konfiguraciju.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882896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488289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25880" y="4855464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Statistička validacija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25880" y="52120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Friedmanov test + Nemenyi post-hoc za potvrdu da li su uočene razlike statistički značajne.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632704"/>
            <a:ext cx="64008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563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5605272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 slučajeva neuspjeha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25880" y="596188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Detaljan pogled na 285 lažnih negativa najboljeg modela - prevare malih iznosa su dominantan tip greške.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- Kartik2112 prevare kreditnih kartica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48640" y="1325880"/>
            <a:ext cx="49377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1325880"/>
            <a:ext cx="73152" cy="49377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14173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datasetu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46634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Izvor:  Kaggle (Kartik2112)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Veličina:    1.852.394 transakcija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Trening:   1.296.675 redova  (7.506 prevara)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   555.719 redova  (2.145 prevara)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 1. Jan 2019 - 31. Dec 2020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Originalna polja:  20  (vrijeme transakcije,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iznos, trgovac, kategorija, demografija,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geo-koordinate, ...)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Inženjerisani feature-i: +9 (sat transakcije,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 u sedmici, starost, haversinska udaljenost između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kupca i trgovca, ...).</a:t>
            </a:r>
            <a:endParaRPr lang="en-US" sz="1300" dirty="0"/>
          </a:p>
        </p:txBody>
      </p:sp>
      <p:pic>
        <p:nvPicPr>
          <p:cNvPr id="9" name="Image 0" descr="/sessions/wonderful-keen-volta/mnt/outputs/projekat/results/figures/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325880"/>
            <a:ext cx="5943600" cy="2468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37947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1 - Distribucija klasa u log skali (lijevo) i procentima (desno).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52160" y="4206240"/>
            <a:ext cx="5943600" cy="205740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989320" y="42976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Ključni zaključak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989320" y="466344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Manje od 0.6% svih transakcija su prevare.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Naivni klasifikator 'uvijek predvidi legit' postiže 99.42% tačnost.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Stoga je tačnost beskorisna - moramo koristiti F1, MCC, AUC-PR.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Metodologija - Pregled pipeline-a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wonderful-keen-volta/mnt/outputs/projekat/results/figures/workflow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34440"/>
            <a:ext cx="9418320" cy="4754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608076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2 - Kompletan workflow metodologije: prikupljanje podataka, EDA, preprocessing, balansiranje podataka, treniranje, evaluacija.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Tehnike balansiranja podataka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457200"/>
                <a:gridCol w="2286000"/>
                <a:gridCol w="5120640"/>
                <a:gridCol w="32004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Kako radi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Prednosti / Nedostaci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Nijedna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Originalna distribucija treniranja - bez rebalansiranja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bez sintetičkih podataka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model pristrasan ka većini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Over-Sampling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Duplira uzorke manjine dok se klase ne izbalansiraju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jednostavno, brzo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overfit-uje dupliranim tačkama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Generiše sintetičke tačke manjine linearnom interpolacijom između k-NN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bez tačnih duplikata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može stvoriti nerealne uzorke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+ Tomek Links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 oversample, zatim ukloni granične tačke većine (Tomek linkove)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čistija granica odluke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 malo veći trošak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065A82">
              <a:alpha val="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4864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Metoda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291840" y="1280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Kako radi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41248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Prednosti / Nedostaci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1280160"/>
            <a:ext cx="11064240" cy="5029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48640" y="128016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#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05840" y="128016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Metoda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291840" y="12801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Kako radi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12480" y="12801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Prednosti / Nedostaci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48640" y="5120640"/>
            <a:ext cx="11064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48640" y="5120640"/>
            <a:ext cx="73152" cy="114300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777240" y="5212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 dizajnerska odluka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77240" y="55778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Balansiranje podataka se primjenjuje SAMO na trening set. Test set zadržava originalnu stopu prevara od 0.39%, pa izvještene metrike odražavaju realni produkcijski scenario.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 i evaluacione metrike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Dva tree-ensemble klasifikatora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178308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8640" y="1783080"/>
            <a:ext cx="73152" cy="18288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31520" y="187452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Bagging ensemble od 200 stabala odluke (dubina = 12, sqrt podskup feature-a).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Smanjuje varijansu, robustan na šum, paralelizabilan.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03320"/>
            <a:ext cx="53949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548640" y="3703320"/>
            <a:ext cx="73152" cy="18288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731520" y="3794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Gradient-boosted ensemble od 300 stabala (dubina = 6, lr = 0.1).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Sekvencijalno smanjenje pristrasnosti, regularizovan, scale-pos-weight za imbalansiranost.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Šest metrika svjesnih imbalansiranosti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217920" y="178308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5080" y="17830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Preciznost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0" y="17830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 - udio stvarnih prevara među svim upozorenjima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42316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355080" y="24231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Odziv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498080" y="24231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 - udio stvarnih prevara koje uhvatimo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306324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55080" y="3063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0" y="30632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Harmonijska sredina preciznosti i odziva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370332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355080" y="37033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0" y="3703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Površina ispod ROC krive - nezavisna od praga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17920" y="434340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355080" y="4343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AUC-PR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0" y="4343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Površina ispod PR krive - informativnija za imbalansirane podatke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4983480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355080" y="4983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MCC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7498080" y="498348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Matthews CC - izbalansiran kroz sve ćelije confusion matrice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 - svih 8 konfiguracija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188720"/>
                <a:gridCol w="1188720"/>
                <a:gridCol w="1188720"/>
                <a:gridCol w="1371600"/>
                <a:gridCol w="13716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Balansiranje podataka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Preciznost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Odziv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AUC-PR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Nijedna (baseline)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Nijedna (baseline)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RandomOverSampler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RandomOverSampler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SMOTE+Tomek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SMOTE+Tomek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16A0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8F5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5349240"/>
            <a:ext cx="228600" cy="228600"/>
          </a:xfrm>
          <a:prstGeom prst="rect">
            <a:avLst/>
          </a:prstGeom>
          <a:solidFill>
            <a:srgbClr val="E8F8F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77240" y="53035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najbolja konfiguracija  -  SMOTE+Tomek + XGBoost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5715000"/>
            <a:ext cx="11247120" cy="59436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457200" y="571500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F1 = 0.873   -   Odziv skočio sa 0.751 (baseline RF) na 0.867 (+ 11.6 pp)   -   MCC = 0.874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Vizuelno poređenje - sve metrike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wonderful-keen-volta/mnt/outputs/projekat/results/figures/metric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868680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08076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3 - Svih 6 metrika kroz 4 balansiranja podataka x 2 modela.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9418320" y="128016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9418320" y="1280160"/>
            <a:ext cx="73152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960120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1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601200" y="17830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&gt; RF na svakoj metrici u svakoj postavci balansiranja podataka.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418320" y="2834640"/>
            <a:ext cx="23774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9418320" y="2834640"/>
            <a:ext cx="73152" cy="14630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96012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601200" y="33375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Balansiranje podataka povećava odziv za ~10 pp ali blago smanjuje preciznost - neto rast F1.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418320" y="4389120"/>
            <a:ext cx="23774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9418320" y="4389120"/>
            <a:ext cx="73152" cy="16916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01200" y="4480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3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9601200" y="489204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SMOTE+Tomek konzistentno bolji od čistog SMOTE-a - Tomek-link čišćenje pomaže.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i Preciznost-Odziv krive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wonderful-keen-volta/mnt/outputs/projekat/results/figures/roc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56692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5806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4 - ROC krive (više = bolje).</a:t>
            </a:r>
            <a:endParaRPr lang="en-US" sz="1000" dirty="0"/>
          </a:p>
        </p:txBody>
      </p:sp>
      <p:pic>
        <p:nvPicPr>
          <p:cNvPr id="7" name="Image 1" descr="/sessions/wonderful-keen-volta/mnt/outputs/projekat/results/figures/pr_curv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34440"/>
            <a:ext cx="5669280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17920" y="58064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5 - Preciznost-Odziv krive (informativnije pri imbalansiranosti).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65760" y="6172200"/>
            <a:ext cx="1152144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365760" y="6172200"/>
            <a:ext cx="1152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Sve AUC-ROC vrijednosti prelaze 0.95 - AUC-PR je diskriminirajuća metrika za imbalansirane podatke.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Najbolji model - confusion matrica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wonderful-keen-volta/mnt/outputs/projekat/results/figures/confusion_matrix_b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530352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58978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6 - Confusion matrica SMOTE+Tomek + XGBoost na test setu.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217920" y="132588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6217920" y="1417320"/>
            <a:ext cx="27432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1,860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309360" y="2374697"/>
            <a:ext cx="256032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 pozitivi (uhvaćene prevare)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0" y="132588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9144000" y="1417320"/>
            <a:ext cx="25603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</a:t>
            </a:r>
            <a:endParaRPr lang="en-US" sz="3800" dirty="0"/>
          </a:p>
        </p:txBody>
      </p:sp>
      <p:sp>
        <p:nvSpPr>
          <p:cNvPr id="12" name="Text 9"/>
          <p:cNvSpPr/>
          <p:nvPr/>
        </p:nvSpPr>
        <p:spPr>
          <a:xfrm>
            <a:off x="9235440" y="2374697"/>
            <a:ext cx="237744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Lažni negativi (propuštene prevare)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17920" y="3200400"/>
            <a:ext cx="27432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6217920" y="3291840"/>
            <a:ext cx="274320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256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6309360" y="4249217"/>
            <a:ext cx="256032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Lažni pozitivi (lažna uzbuna)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9144000" y="3200400"/>
            <a:ext cx="25603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144000" y="3291840"/>
            <a:ext cx="2560320" cy="930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553,318</a:t>
            </a:r>
            <a:endParaRPr lang="en-US" sz="3800" dirty="0"/>
          </a:p>
        </p:txBody>
      </p:sp>
      <p:sp>
        <p:nvSpPr>
          <p:cNvPr id="18" name="Text 15"/>
          <p:cNvSpPr/>
          <p:nvPr/>
        </p:nvSpPr>
        <p:spPr>
          <a:xfrm>
            <a:off x="9235440" y="4249217"/>
            <a:ext cx="2377440" cy="541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Pravi negativi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217920" y="5074920"/>
            <a:ext cx="5486400" cy="1005840"/>
          </a:xfrm>
          <a:prstGeom prst="rect">
            <a:avLst/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635508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Operativna interpretacija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6355080" y="544068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86.8% svih prevara uhvaćeno - samo 0.046% stopa lažnih uzbuna na legitimnim transakcijama.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Diskusija - šta pokreće predviđanja?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sessions/wonderful-keen-volta/mnt/outputs/projekat/results/figures/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34440"/>
            <a:ext cx="6126480" cy="4846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608076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Sl. 7 - Top-20 važnosti feature-a po XGBoost-u.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6858000" y="128016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6858000" y="1280160"/>
            <a:ext cx="73152" cy="13716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7040880" y="13716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Glavni faktor - iznos transakcije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040880" y="17830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'amt' nosi 24.1% ukupnog gain-a. Iznosi prevara se grupišu oko neuobičajenih vrijednosti (npr. 1.00 za testiranje, zatim nagli skokovi velikih iznosa).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0" y="274320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6858000" y="274320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040880" y="28346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Inženjerisani feature-i dominiraju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040880" y="324612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transakcije, starost kupca i haversinska udaljenost (kupac-trgovac) zajedno doprinose 27.6%, potvrđujući vrijednost feature engineering-a.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858000" y="4206240"/>
            <a:ext cx="4937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6858000" y="4206240"/>
            <a:ext cx="73152" cy="1371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7040880" y="4297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Slučaj neuspjeha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4088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285 propuštenih prevara su uglavnom male transakcije (ispod $50) u noćnim satima unutar uobičajenog radijusa kupca - najteže ih je razlikovati od legitimne potrošnje.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858000" y="5669280"/>
            <a:ext cx="49377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858000" y="5669280"/>
            <a:ext cx="73152" cy="59436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7040880" y="576072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Statistička značajnost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040880" y="6172200"/>
            <a:ext cx="4663440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Friedman + Nemenyi: SMOTE+Tomek značajno različit od baseline-a (p &lt; 0.01).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411480"/>
            <a:ext cx="91440" cy="5943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94360" y="36576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 i budući rad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114300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864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Ograničenja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91440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Jedan (sintetički) javni dataset - rezultati možda ne generalizuju na sve portfolije kartica.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65176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Statična train/test podjela - bez modeliranja concept-drift-a (obrasci prevara se mijenjaju vremenom).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338328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1440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cost-sensitive učenja - svi FP-ovi/FN-ovi tretirani jednako; u produkciji nisu.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1480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91440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Bez deep-learning baseline-a - tabularni transformeri (FT-Transformer) još neuporedeni.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164592" cy="16459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14400" y="4754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Hiperparametri birani po default-ima iz literature, ne potpunim grid search-om.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400800" y="13258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Budući rad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492240" y="192024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766560" y="18288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Replicirati na evropski card dataset (Dal Pozzolo 2015) i interne bankarske podatke.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265176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766560" y="25603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Dodati online/streaming evaluaciju sa sliding window-om i detekcijom drift-a.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92240" y="338328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766560" y="32918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Uvesti cost-sensitive funkciju (asimetričan gubitak za FN &gt;&gt; FP).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492240" y="411480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766560" y="40233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Uporediti sa FT-Transformer, TabNet i graph-based modelima prevara.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92240" y="4846320"/>
            <a:ext cx="164592" cy="164592"/>
          </a:xfrm>
          <a:prstGeom prst="ellipse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766560" y="47548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Sloj objašnjivosti (SHAP) za individualne transakcijske opravdanosti.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0" y="6446520"/>
            <a:ext cx="12161520" cy="1828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365760" y="647395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Islam Habibović  |  PFZE  |  Rudarenje podataka 2026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789920" y="647395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28600" y="0"/>
            <a:ext cx="54864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22960" y="548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 rečenice vrijedne pamćenja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457200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2960" y="1874520"/>
            <a:ext cx="105156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60120" y="205740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601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45920" y="1965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Hibridno balansiranje podataka pobjeđuje.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331720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Tomek Links u kombinaciji sa XGBoost-om postiže F1 = 0.873, AUC-PR = 0.879, MCC = 0.874 - najbolje od svih 8 konfiguracija i statistički značajno (Friedman + Nemenyi, p &lt; 0.01).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172968"/>
            <a:ext cx="105156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60120" y="3355848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601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45920" y="3264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Odziv skače, preciznost se zadržava.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630168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Odziv raste sa 0.751 (baseline RF) na 0.867 (+ 11.6 pp) dok preciznost ostaje iznad 0.87 - asimetričan trošak detekcije prevara se rješava bez preplavljivanja analitičara lažnim uzbunama.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4471416"/>
            <a:ext cx="105156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60120" y="4654296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60120" y="46542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45920" y="45628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je važan.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45920" y="4928616"/>
            <a:ext cx="9509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Iznos transakcije, sat i haversinska udaljenost zajedno čine 51.7% XGBoost gain-a - jednostavni, interpretabilni, deployable feature-i nadmašuju bilo koji pojedinačan složeni trik.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2960" y="6400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Hvala na pažnji.   -   Pitanja?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789920" y="640080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International University of Sarajevo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Comparative Analysis of Resampling Techniques and Ensemble Methods for Credit-Card Fraud Detection</dc:title>
  <dc:subject>PptxGenJS Presentation</dc:subject>
  <dc:creator>Islam Habibovic</dc:creator>
  <cp:lastModifiedBy>Islam Habibovic</cp:lastModifiedBy>
  <cp:revision>1</cp:revision>
  <dcterms:created xsi:type="dcterms:W3CDTF">2026-05-21T13:03:00Z</dcterms:created>
  <dcterms:modified xsi:type="dcterms:W3CDTF">2026-05-21T13:03:00Z</dcterms:modified>
</cp:coreProperties>
</file>